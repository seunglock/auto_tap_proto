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76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65" r:id="rId15"/>
    <p:sldId id="273" r:id="rId16"/>
    <p:sldId id="274" r:id="rId17"/>
    <p:sldId id="275" r:id="rId18"/>
    <p:sldId id="277" r:id="rId19"/>
    <p:sldId id="278" r:id="rId20"/>
  </p:sldIdLst>
  <p:sldSz cx="18288000" cy="10287000"/>
  <p:notesSz cx="6858000" cy="9144000"/>
  <p:embeddedFontLst>
    <p:embeddedFont>
      <p:font typeface="210 국민체조" panose="020B0600000101010101" charset="-127"/>
      <p:regular r:id="rId21"/>
    </p:embeddedFont>
    <p:embeddedFont>
      <p:font typeface="Source Han Sans KR" panose="020B0600000101010101" charset="-127"/>
      <p:regular r:id="rId22"/>
    </p:embeddedFont>
    <p:embeddedFont>
      <p:font typeface="Source Han Sans KR Bold" panose="020B0600000101010101" charset="-127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622" autoAdjust="0"/>
  </p:normalViewPr>
  <p:slideViewPr>
    <p:cSldViewPr>
      <p:cViewPr varScale="1">
        <p:scale>
          <a:sx n="36" d="100"/>
          <a:sy n="36" d="100"/>
        </p:scale>
        <p:origin x="52" y="1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7938" y="391362"/>
            <a:ext cx="16990224" cy="9607189"/>
            <a:chOff x="0" y="0"/>
            <a:chExt cx="22653632" cy="1280958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4308"/>
              <a:ext cx="22653632" cy="12675278"/>
              <a:chOff x="0" y="0"/>
              <a:chExt cx="4474792" cy="250375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503759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503759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503759"/>
                    </a:lnTo>
                    <a:lnTo>
                      <a:pt x="0" y="2503759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5513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2675278"/>
              <a:chOff x="0" y="0"/>
              <a:chExt cx="4474792" cy="250375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503759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503759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503759"/>
                    </a:lnTo>
                    <a:lnTo>
                      <a:pt x="0" y="2503759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5513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892023"/>
            <a:chOff x="0" y="0"/>
            <a:chExt cx="4474792" cy="2349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234936"/>
            </a:xfrm>
            <a:custGeom>
              <a:avLst/>
              <a:gdLst/>
              <a:ahLst/>
              <a:cxnLst/>
              <a:rect l="l" t="t" r="r" b="b"/>
              <a:pathLst>
                <a:path w="4474792" h="234936">
                  <a:moveTo>
                    <a:pt x="0" y="0"/>
                  </a:moveTo>
                  <a:lnTo>
                    <a:pt x="4474792" y="0"/>
                  </a:lnTo>
                  <a:lnTo>
                    <a:pt x="4474792" y="234936"/>
                  </a:lnTo>
                  <a:lnTo>
                    <a:pt x="0" y="234936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282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003903" y="2933700"/>
            <a:ext cx="10950933" cy="1603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464"/>
              </a:lnSpc>
            </a:pPr>
            <a:r>
              <a:rPr lang="ko-KR" altLang="en-US" sz="11435" spc="-468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공개 </a:t>
            </a:r>
            <a:r>
              <a:rPr lang="en-US" altLang="ko-KR" sz="11435" spc="-468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SW </a:t>
            </a:r>
            <a:r>
              <a:rPr lang="ko-KR" altLang="en-US" sz="11435" spc="-468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</a:t>
            </a:r>
            <a:endParaRPr lang="en-US" sz="11435" spc="-468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54342" y="4726245"/>
            <a:ext cx="13979316" cy="1636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64"/>
              </a:lnSpc>
            </a:pPr>
            <a:r>
              <a:rPr lang="en-US" sz="11435" spc="-468" dirty="0">
                <a:solidFill>
                  <a:srgbClr val="8A9A95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Diary Journey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33164" y="6907850"/>
            <a:ext cx="11621672" cy="363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02</a:t>
            </a:r>
            <a:r>
              <a:rPr lang="ko-KR" altLang="en-US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분반 </a:t>
            </a:r>
            <a:r>
              <a:rPr lang="en-US" altLang="ko-KR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</a:t>
            </a:r>
            <a:r>
              <a:rPr lang="ko-KR" altLang="en-US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</a:t>
            </a:r>
            <a:r>
              <a:rPr lang="en-US" altLang="ko-KR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</a:t>
            </a:r>
            <a:r>
              <a:rPr lang="ko-KR" altLang="en-US" sz="2263" spc="-169" dirty="0" err="1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최승범</a:t>
            </a:r>
            <a:r>
              <a:rPr lang="en-US" altLang="ko-KR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박예준</a:t>
            </a:r>
            <a:r>
              <a:rPr lang="en-US" altLang="ko-KR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263" spc="-169" dirty="0" err="1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서희영</a:t>
            </a:r>
            <a:r>
              <a:rPr lang="en-US" altLang="ko-KR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263" spc="-169" dirty="0">
                <a:solidFill>
                  <a:srgbClr val="222222">
                    <a:alpha val="93725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조서연</a:t>
            </a:r>
            <a:endParaRPr lang="en-US" sz="2263" spc="-169" dirty="0">
              <a:solidFill>
                <a:srgbClr val="222222">
                  <a:alpha val="93725"/>
                </a:srgbClr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888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8497" y="923925"/>
            <a:ext cx="5097279" cy="94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 개요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84879" y="3024295"/>
            <a:ext cx="6518241" cy="838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8"/>
              </a:lnSpc>
            </a:pPr>
            <a:r>
              <a:rPr lang="en-US" sz="5548" spc="-282" dirty="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Diary Journey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53000" y="4533900"/>
            <a:ext cx="8948612" cy="2510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85"/>
              </a:lnSpc>
            </a:pPr>
            <a:r>
              <a:rPr lang="en-US" altLang="ko-KR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</a:t>
            </a:r>
            <a:r>
              <a:rPr lang="ko-KR" alt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기능</a:t>
            </a:r>
            <a:r>
              <a:rPr 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Ai</a:t>
            </a:r>
            <a:r>
              <a:rPr lang="ko-KR" alt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를 활용한 브라우저 기록 요약 및 일기장 기능 탑재</a:t>
            </a:r>
            <a:endParaRPr lang="en-US" sz="3175" spc="-161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>
              <a:lnSpc>
                <a:spcPts val="4985"/>
              </a:lnSpc>
            </a:pPr>
            <a:r>
              <a:rPr 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</a:t>
            </a:r>
            <a:r>
              <a:rPr lang="en-US" sz="3175" spc="-161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팀장</a:t>
            </a:r>
            <a:r>
              <a:rPr 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</a:t>
            </a:r>
            <a:r>
              <a:rPr lang="en-US" sz="3175" spc="-161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최승범</a:t>
            </a:r>
            <a:r>
              <a:rPr lang="en-US" sz="3175" b="1" spc="-16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  <a:p>
            <a:pPr>
              <a:lnSpc>
                <a:spcPts val="4985"/>
              </a:lnSpc>
            </a:pPr>
            <a:r>
              <a:rPr 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</a:t>
            </a:r>
            <a:r>
              <a:rPr lang="en-US" sz="3175" spc="-161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팀원</a:t>
            </a:r>
            <a:r>
              <a:rPr 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</a:t>
            </a:r>
            <a:r>
              <a:rPr lang="ko-KR" alt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박예준</a:t>
            </a:r>
            <a:r>
              <a:rPr lang="en-US" altLang="ko-KR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3175" spc="-161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서희영</a:t>
            </a:r>
            <a:r>
              <a:rPr lang="en-US" altLang="ko-KR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조서연</a:t>
            </a:r>
            <a:endParaRPr lang="en-US" sz="3175" spc="-161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>
              <a:lnSpc>
                <a:spcPts val="4985"/>
              </a:lnSpc>
            </a:pPr>
            <a:r>
              <a:rPr 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</a:t>
            </a:r>
            <a:r>
              <a:rPr lang="en-US" sz="3175" spc="-161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개발</a:t>
            </a:r>
            <a:r>
              <a:rPr 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환경</a:t>
            </a:r>
            <a:r>
              <a:rPr lang="en-US" altLang="ko-KR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3175" spc="-161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일렉트론</a:t>
            </a:r>
            <a:endParaRPr lang="en-US" sz="3175" spc="-161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888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497" y="923925"/>
            <a:ext cx="5097279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기획 의도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34642" y="2556241"/>
            <a:ext cx="10371862" cy="416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572" lvl="1" indent="-323786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현대 사회에서 인간은 수많은 정보를 접하면서 하루를 보냄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2" lvl="1" indent="-323786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그러나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많은 정보를 </a:t>
            </a:r>
            <a:r>
              <a:rPr lang="ko-KR" altLang="en-US" sz="2999" spc="-152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접하다보니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자신이 무엇을 찾았고 왜 이것을 찾았는지 헷갈려 하거나 망각하는 경우가 발생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2" lvl="1" indent="-323786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따라서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ai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를 이용해 브라우저 내역을 기록하고 이를 간단하게 요약함으로써 시간을 단축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 스스로 되돌아 볼 수 있게 한다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647572" lvl="1" indent="-323786" algn="l">
              <a:lnSpc>
                <a:spcPts val="4709"/>
              </a:lnSpc>
              <a:buFont typeface="Arial"/>
              <a:buChar char="•"/>
            </a:pP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2" lvl="1" indent="-323786" algn="l">
              <a:lnSpc>
                <a:spcPts val="4709"/>
              </a:lnSpc>
              <a:buFont typeface="Arial"/>
              <a:buChar char="•"/>
            </a:pP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17" name="그림 16" descr="정보들이 차고 넘치는 시대 “정보의 의미는 무엇일까”-문화ㅣ한국일보">
            <a:extLst>
              <a:ext uri="{FF2B5EF4-FFF2-40B4-BE49-F238E27FC236}">
                <a16:creationId xmlns:a16="http://schemas.microsoft.com/office/drawing/2014/main" id="{3EEEDC82-9458-16A7-5C89-1D9FA4F59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136" y="2396844"/>
            <a:ext cx="5334000" cy="3808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8497" y="923925"/>
            <a:ext cx="5557268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 dirty="0" err="1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</a:t>
            </a:r>
            <a:r>
              <a:rPr lang="en-US" sz="5544" spc="-282" dirty="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5544" spc="-282" dirty="0" err="1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특징</a:t>
            </a:r>
            <a:endParaRPr lang="en-US" sz="5544" spc="-282" dirty="0">
              <a:solidFill>
                <a:srgbClr val="FFFFFF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2606703"/>
            <a:ext cx="13775660" cy="597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사용자의 분석이 아닌 기록에 중점을 둔 어플리케이션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는 기록의 수집과 요약을 담당하며 이를 편집하는 것은 사용자의 역할이다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사용자가 틀린 내용을 정정하거나 필요 없다고 생각되는 내용을 직접 편집할 수 있어 자율성이 보장된다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시크릿 탭 등의 정보는 수집하지 않으며 브라우저에 한정되어 있어 프라이버시가 보장된다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수집한 정보의 보안을 유지하기 위한 알고리즘을 마련하였다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6B74-2AA1-2164-1C54-683026D68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91BCC6-BD6F-02E4-D9DA-C36D11DD47D2}"/>
              </a:ext>
            </a:extLst>
          </p:cNvPr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6CC5A05-CE57-B057-83FD-5E2C444F8DCE}"/>
                </a:ext>
              </a:extLst>
            </p:cNvPr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2D2F07F-C595-155A-4FA2-53522F777C37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E29B4DEF-689F-BF1F-C4AC-9F69FC4E977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FA2ACCD-EED6-08BC-F378-15092C9ADC99}"/>
                </a:ext>
              </a:extLst>
            </p:cNvPr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50D754E4-4F41-EA01-05BE-34D070B2FFCB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1AB10E8-F3A7-E1CF-C202-B2B77146226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F006704-25A1-AA88-2174-8DAFA9578649}"/>
              </a:ext>
            </a:extLst>
          </p:cNvPr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BF72517-B857-E3AF-D8F4-A3A19BA8F167}"/>
                </a:ext>
              </a:extLst>
            </p:cNvPr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D901DFB-0362-08A1-DF2F-5B549FEAAFA0}"/>
                </a:ext>
              </a:extLst>
            </p:cNvPr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A8F1C0D-C500-5D6F-A8B6-BD301AB2939E}"/>
              </a:ext>
            </a:extLst>
          </p:cNvPr>
          <p:cNvSpPr txBox="1"/>
          <p:nvPr/>
        </p:nvSpPr>
        <p:spPr>
          <a:xfrm>
            <a:off x="1338496" y="923925"/>
            <a:ext cx="9177103" cy="920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ko-KR" altLang="en-US" sz="5544" spc="-282" dirty="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필요한 이유와 핵심 가치</a:t>
            </a:r>
            <a:endParaRPr lang="en-US" sz="5544" spc="-282" dirty="0">
              <a:solidFill>
                <a:srgbClr val="FFFFFF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40F99B3-6444-047F-DD48-5D71B5960E59}"/>
              </a:ext>
            </a:extLst>
          </p:cNvPr>
          <p:cNvSpPr txBox="1"/>
          <p:nvPr/>
        </p:nvSpPr>
        <p:spPr>
          <a:xfrm>
            <a:off x="914400" y="3397901"/>
            <a:ext cx="7467600" cy="4168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정보화 사회에 맞춘 일기의 현대화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신뢰성을 갖춘 정리 프로그램의 부재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자동화의 효율적 이용에 대한 필요성 증가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과도한 정보의 필터링 및 자체적 정리의 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23787" lvl="1" algn="l">
              <a:lnSpc>
                <a:spcPts val="4709"/>
              </a:lnSpc>
            </a:pP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필요성 증가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23787" lvl="1" algn="l">
              <a:lnSpc>
                <a:spcPts val="4709"/>
              </a:lnSpc>
            </a:pPr>
            <a:endParaRPr lang="ko-KR" alt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23787" lvl="1" algn="l">
              <a:lnSpc>
                <a:spcPts val="4709"/>
              </a:lnSpc>
            </a:pP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8C1876AB-39F8-02E2-8AB7-6B290B59406E}"/>
              </a:ext>
            </a:extLst>
          </p:cNvPr>
          <p:cNvSpPr txBox="1"/>
          <p:nvPr/>
        </p:nvSpPr>
        <p:spPr>
          <a:xfrm>
            <a:off x="762000" y="2628900"/>
            <a:ext cx="6616302" cy="3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Why is this needed?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AF5CD2E0-754D-ACC3-116F-312BE1D7989B}"/>
              </a:ext>
            </a:extLst>
          </p:cNvPr>
          <p:cNvSpPr txBox="1"/>
          <p:nvPr/>
        </p:nvSpPr>
        <p:spPr>
          <a:xfrm>
            <a:off x="8807649" y="2628899"/>
            <a:ext cx="6616302" cy="3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Key Insights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709D510A-F6F3-9C93-461B-4E4B3D7BDD74}"/>
              </a:ext>
            </a:extLst>
          </p:cNvPr>
          <p:cNvSpPr txBox="1"/>
          <p:nvPr/>
        </p:nvSpPr>
        <p:spPr>
          <a:xfrm>
            <a:off x="8382000" y="3319301"/>
            <a:ext cx="7467600" cy="5373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세션의 내용 요약 및 정리 필요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검색 기록의 흐름을 요약하여 사용자에게 제공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사용자의 기록을 저장하는 행위가 감시처럼 느껴지지 않도록 주의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사용자가 직접 기록하는 시간을 효율적으로 단축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수집된 기록을 바탕으로 활동 로그가 아닌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일기 초안의 생성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단순한 신호에서 사용자의 의도와 생각 분석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389708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8497" y="923925"/>
            <a:ext cx="8773436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ko-KR" altLang="en-US" sz="5544" spc="-282" dirty="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 기대 효과</a:t>
            </a:r>
            <a:endParaRPr lang="en-US" sz="5544" spc="-282" dirty="0">
              <a:solidFill>
                <a:srgbClr val="FFFFFF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38497" y="2425321"/>
            <a:ext cx="13775660" cy="704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9"/>
              </a:lnSpc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 보조 효과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사용자가 자신의 행적을 되돌아보며 진로를 능동적으로 설계할 수 있다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699" spc="-137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기록 시간을 단축함으로써 작업의 효율화가 가능해진다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사용자가 자신의 생각과 감정을 서술하는 작업을 반복하며 스스로 생각하는 힘을 기를 수 있다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신뢰성을 갖춘 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 </a:t>
            </a: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기록관의 보조를 통한 업무 효율 상승</a:t>
            </a:r>
            <a:endParaRPr lang="en-US" altLang="ko-KR" sz="2699" spc="-137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사용자의 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</a:t>
            </a: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활용 역량에 따라 효과가 달라지고 이를 통해 자신의 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 </a:t>
            </a: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활용 역량에 대한 고찰 기회 제공</a:t>
            </a:r>
            <a:endParaRPr lang="en-US" sz="2699" spc="-137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l">
              <a:lnSpc>
                <a:spcPts val="4238"/>
              </a:lnSpc>
            </a:pPr>
            <a:endParaRPr lang="en-US" sz="2699" spc="-137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l">
              <a:lnSpc>
                <a:spcPts val="4709"/>
              </a:lnSpc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 영역 확대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기술적인 면에서의 지식 뿐 아니라 시사와 같은 인문학적 영역까지 기록 가능하다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699" spc="-137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지식 노동자 뿐만 아니라 언론인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학생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연예인과 같은 다양한 직업과 계층이 활용 가능하다</a:t>
            </a:r>
            <a:r>
              <a:rPr lang="en-US" altLang="ko-KR" sz="2699" spc="-137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endParaRPr lang="en-US" altLang="ko-KR" sz="2699" spc="-137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291402" lvl="1" algn="l">
              <a:lnSpc>
                <a:spcPts val="4238"/>
              </a:lnSpc>
            </a:pPr>
            <a:endParaRPr lang="en-US" sz="2699" spc="-137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l">
              <a:lnSpc>
                <a:spcPts val="3767"/>
              </a:lnSpc>
            </a:pPr>
            <a:endParaRPr lang="en-US" sz="2699" spc="-137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31664" y="5636096"/>
            <a:ext cx="3672204" cy="3622204"/>
          </a:xfrm>
          <a:custGeom>
            <a:avLst/>
            <a:gdLst/>
            <a:ahLst/>
            <a:cxnLst/>
            <a:rect l="l" t="t" r="r" b="b"/>
            <a:pathLst>
              <a:path w="3672204" h="3622204">
                <a:moveTo>
                  <a:pt x="0" y="0"/>
                </a:moveTo>
                <a:lnTo>
                  <a:pt x="3672204" y="0"/>
                </a:lnTo>
                <a:lnTo>
                  <a:pt x="3672204" y="3622204"/>
                </a:lnTo>
                <a:lnTo>
                  <a:pt x="0" y="3622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302048" y="3961825"/>
            <a:ext cx="3624219" cy="5369214"/>
          </a:xfrm>
          <a:custGeom>
            <a:avLst/>
            <a:gdLst/>
            <a:ahLst/>
            <a:cxnLst/>
            <a:rect l="l" t="t" r="r" b="b"/>
            <a:pathLst>
              <a:path w="3624219" h="5369214">
                <a:moveTo>
                  <a:pt x="0" y="0"/>
                </a:moveTo>
                <a:lnTo>
                  <a:pt x="3624219" y="0"/>
                </a:lnTo>
                <a:lnTo>
                  <a:pt x="3624219" y="5369214"/>
                </a:lnTo>
                <a:lnTo>
                  <a:pt x="0" y="536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427320" y="7301750"/>
            <a:ext cx="3241920" cy="1956550"/>
          </a:xfrm>
          <a:custGeom>
            <a:avLst/>
            <a:gdLst/>
            <a:ahLst/>
            <a:cxnLst/>
            <a:rect l="l" t="t" r="r" b="b"/>
            <a:pathLst>
              <a:path w="3241920" h="1956550">
                <a:moveTo>
                  <a:pt x="0" y="0"/>
                </a:moveTo>
                <a:lnTo>
                  <a:pt x="3241920" y="0"/>
                </a:lnTo>
                <a:lnTo>
                  <a:pt x="3241920" y="1956550"/>
                </a:lnTo>
                <a:lnTo>
                  <a:pt x="0" y="1956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0236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176506" y="5390859"/>
            <a:ext cx="3542025" cy="3940180"/>
          </a:xfrm>
          <a:custGeom>
            <a:avLst/>
            <a:gdLst/>
            <a:ahLst/>
            <a:cxnLst/>
            <a:rect l="l" t="t" r="r" b="b"/>
            <a:pathLst>
              <a:path w="3542025" h="3940180">
                <a:moveTo>
                  <a:pt x="0" y="0"/>
                </a:moveTo>
                <a:lnTo>
                  <a:pt x="3542025" y="0"/>
                </a:lnTo>
                <a:lnTo>
                  <a:pt x="3542025" y="3940180"/>
                </a:lnTo>
                <a:lnTo>
                  <a:pt x="0" y="3940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38497" y="923925"/>
            <a:ext cx="7330743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- 전체 구조 설계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439434"/>
            <a:ext cx="13775660" cy="270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주요 매니저 클래스 구현</a:t>
            </a: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en-US" sz="2699" spc="-137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WaveManager : 웨이브 진행·몬스터 강화</a:t>
            </a: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en-US" sz="2699" spc="-137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Spawner : 몬스터 스폰 제어</a:t>
            </a: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en-US" sz="2699" spc="-137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WaypointManager : 몬스터 이동 경로 관리</a:t>
            </a:r>
          </a:p>
          <a:p>
            <a:pPr marL="582805" lvl="1" indent="-291403" algn="l">
              <a:lnSpc>
                <a:spcPts val="4238"/>
              </a:lnSpc>
              <a:buFont typeface="Arial"/>
              <a:buChar char="•"/>
            </a:pPr>
            <a:r>
              <a:rPr lang="en-US" sz="2699" spc="-137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SystemController : 골드·경험치·시간 배속 등 전체 시스템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498766" y="4285333"/>
            <a:ext cx="5978282" cy="2046328"/>
          </a:xfrm>
          <a:custGeom>
            <a:avLst/>
            <a:gdLst/>
            <a:ahLst/>
            <a:cxnLst/>
            <a:rect l="l" t="t" r="r" b="b"/>
            <a:pathLst>
              <a:path w="5978282" h="2046328">
                <a:moveTo>
                  <a:pt x="0" y="0"/>
                </a:moveTo>
                <a:lnTo>
                  <a:pt x="5978282" y="0"/>
                </a:lnTo>
                <a:lnTo>
                  <a:pt x="5978282" y="2046328"/>
                </a:lnTo>
                <a:lnTo>
                  <a:pt x="0" y="2046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90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498766" y="6805256"/>
            <a:ext cx="5978282" cy="2453044"/>
          </a:xfrm>
          <a:custGeom>
            <a:avLst/>
            <a:gdLst/>
            <a:ahLst/>
            <a:cxnLst/>
            <a:rect l="l" t="t" r="r" b="b"/>
            <a:pathLst>
              <a:path w="5978282" h="2453044">
                <a:moveTo>
                  <a:pt x="0" y="0"/>
                </a:moveTo>
                <a:lnTo>
                  <a:pt x="5978282" y="0"/>
                </a:lnTo>
                <a:lnTo>
                  <a:pt x="5978282" y="2453044"/>
                </a:lnTo>
                <a:lnTo>
                  <a:pt x="0" y="2453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8700" y="5308497"/>
            <a:ext cx="8704801" cy="3949803"/>
          </a:xfrm>
          <a:custGeom>
            <a:avLst/>
            <a:gdLst/>
            <a:ahLst/>
            <a:cxnLst/>
            <a:rect l="l" t="t" r="r" b="b"/>
            <a:pathLst>
              <a:path w="8704801" h="3949803">
                <a:moveTo>
                  <a:pt x="0" y="0"/>
                </a:moveTo>
                <a:lnTo>
                  <a:pt x="8704801" y="0"/>
                </a:lnTo>
                <a:lnTo>
                  <a:pt x="8704801" y="3949803"/>
                </a:lnTo>
                <a:lnTo>
                  <a:pt x="0" y="394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38497" y="923925"/>
            <a:ext cx="9024339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- 몬스터 &amp; 이동 시스템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439434"/>
            <a:ext cx="13775660" cy="233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Waypoint 기반 경로 이동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몬스터 유형별 스탯 차별화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웨이브에 따라 체력/공격력 자동 상승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보스 전용 스킬: 주변 몬스터 버프, 돌진 기능 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38497" y="7033016"/>
            <a:ext cx="4586117" cy="2225284"/>
          </a:xfrm>
          <a:custGeom>
            <a:avLst/>
            <a:gdLst/>
            <a:ahLst/>
            <a:cxnLst/>
            <a:rect l="l" t="t" r="r" b="b"/>
            <a:pathLst>
              <a:path w="4586117" h="2225284">
                <a:moveTo>
                  <a:pt x="0" y="0"/>
                </a:moveTo>
                <a:lnTo>
                  <a:pt x="4586117" y="0"/>
                </a:lnTo>
                <a:lnTo>
                  <a:pt x="4586117" y="2225284"/>
                </a:lnTo>
                <a:lnTo>
                  <a:pt x="0" y="2225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978374" y="2553734"/>
            <a:ext cx="3651972" cy="6704566"/>
          </a:xfrm>
          <a:custGeom>
            <a:avLst/>
            <a:gdLst/>
            <a:ahLst/>
            <a:cxnLst/>
            <a:rect l="l" t="t" r="r" b="b"/>
            <a:pathLst>
              <a:path w="3651972" h="6704566">
                <a:moveTo>
                  <a:pt x="0" y="0"/>
                </a:moveTo>
                <a:lnTo>
                  <a:pt x="3651973" y="0"/>
                </a:lnTo>
                <a:lnTo>
                  <a:pt x="3651973" y="6704566"/>
                </a:lnTo>
                <a:lnTo>
                  <a:pt x="0" y="6704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773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128520" y="7206363"/>
            <a:ext cx="6645949" cy="2051937"/>
          </a:xfrm>
          <a:custGeom>
            <a:avLst/>
            <a:gdLst/>
            <a:ahLst/>
            <a:cxnLst/>
            <a:rect l="l" t="t" r="r" b="b"/>
            <a:pathLst>
              <a:path w="6645949" h="2051937">
                <a:moveTo>
                  <a:pt x="0" y="0"/>
                </a:moveTo>
                <a:lnTo>
                  <a:pt x="6645949" y="0"/>
                </a:lnTo>
                <a:lnTo>
                  <a:pt x="6645949" y="2051937"/>
                </a:lnTo>
                <a:lnTo>
                  <a:pt x="0" y="2051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38497" y="923925"/>
            <a:ext cx="8689802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- 몬스터 스폰 시스템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439434"/>
            <a:ext cx="13775660" cy="233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5개의 스포너가 존재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웨이브 구간별로 활성화되는 스포너 조절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각 스포너에서 2초 간격으로 랜덤 몬스터 소환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특정 웨이브에만 등장하는 보스 소환 기능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918064" y="5540166"/>
            <a:ext cx="4725455" cy="3461395"/>
          </a:xfrm>
          <a:custGeom>
            <a:avLst/>
            <a:gdLst/>
            <a:ahLst/>
            <a:cxnLst/>
            <a:rect l="l" t="t" r="r" b="b"/>
            <a:pathLst>
              <a:path w="4725455" h="3461395">
                <a:moveTo>
                  <a:pt x="0" y="0"/>
                </a:moveTo>
                <a:lnTo>
                  <a:pt x="4725454" y="0"/>
                </a:lnTo>
                <a:lnTo>
                  <a:pt x="4725454" y="3461395"/>
                </a:lnTo>
                <a:lnTo>
                  <a:pt x="0" y="3461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38497" y="923925"/>
            <a:ext cx="7330743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- 타일맵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564886"/>
            <a:ext cx="16033789" cy="3516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Unity의 Isometric 타일맵을 활용하여 2.5D 시각 표현 구현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타일 높이에 따른 자연스러운 오브젝트 레이어링(몬스터가 타일 뒤/앞으로 자연스럽게 보이는 깊이 표현)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맵을 5개의 길로 자연스럽게 분기하도록 설계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몬스터 이동 경로(웨이포인트)와 타일 시스템을 결합하여 부드러운 이동 연출 구현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타일 단위로 타워 설치 가능 구역을 구분하여 게임 플레이 구조화</a:t>
            </a:r>
          </a:p>
          <a:p>
            <a:pPr algn="l">
              <a:lnSpc>
                <a:spcPts val="4709"/>
              </a:lnSpc>
            </a:pPr>
            <a:endParaRPr lang="en-US" sz="2999" spc="-15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8497" y="2537446"/>
            <a:ext cx="12147885" cy="400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2644" spc="-13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4종의 타워 구현 (화살/박격포/얼음/독)</a:t>
            </a:r>
          </a:p>
          <a:p>
            <a:pPr algn="l">
              <a:lnSpc>
                <a:spcPts val="4152"/>
              </a:lnSpc>
            </a:pPr>
            <a:r>
              <a:rPr lang="en-US" sz="2644" spc="-13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타워별 투사체 &amp; 효과</a:t>
            </a:r>
          </a:p>
          <a:p>
            <a:pPr marL="532978" lvl="1" indent="-266489" algn="l">
              <a:lnSpc>
                <a:spcPts val="3875"/>
              </a:lnSpc>
              <a:buFont typeface="Arial"/>
              <a:buChar char="•"/>
            </a:pPr>
            <a:r>
              <a:rPr lang="en-US" sz="2468" spc="-125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화살: 단일 공격</a:t>
            </a:r>
          </a:p>
          <a:p>
            <a:pPr marL="532978" lvl="1" indent="-266489" algn="l">
              <a:lnSpc>
                <a:spcPts val="3875"/>
              </a:lnSpc>
              <a:buFont typeface="Arial"/>
              <a:buChar char="•"/>
            </a:pPr>
            <a:r>
              <a:rPr lang="en-US" sz="2468" spc="-125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박격포: 범위 폭발</a:t>
            </a:r>
          </a:p>
          <a:p>
            <a:pPr marL="532978" lvl="1" indent="-266489" algn="l">
              <a:lnSpc>
                <a:spcPts val="3875"/>
              </a:lnSpc>
              <a:buFont typeface="Arial"/>
              <a:buChar char="•"/>
            </a:pPr>
            <a:r>
              <a:rPr lang="en-US" sz="2468" spc="-125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얼음: 이동속도 감소</a:t>
            </a:r>
          </a:p>
          <a:p>
            <a:pPr marL="532978" lvl="1" indent="-266489" algn="l">
              <a:lnSpc>
                <a:spcPts val="3875"/>
              </a:lnSpc>
              <a:buFont typeface="Arial"/>
              <a:buChar char="•"/>
            </a:pPr>
            <a:r>
              <a:rPr lang="en-US" sz="2468" spc="-125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독: 비례 피해</a:t>
            </a:r>
          </a:p>
          <a:p>
            <a:pPr algn="l">
              <a:lnSpc>
                <a:spcPts val="4152"/>
              </a:lnSpc>
            </a:pPr>
            <a:r>
              <a:rPr lang="en-US" sz="2644" spc="-13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타워가 가장 가까운 적을 자동 타겟팅</a:t>
            </a:r>
          </a:p>
          <a:p>
            <a:pPr algn="l">
              <a:lnSpc>
                <a:spcPts val="4152"/>
              </a:lnSpc>
            </a:pPr>
            <a:endParaRPr lang="en-US" sz="2644" spc="-134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1864539" y="2759548"/>
            <a:ext cx="5061728" cy="6356958"/>
          </a:xfrm>
          <a:custGeom>
            <a:avLst/>
            <a:gdLst/>
            <a:ahLst/>
            <a:cxnLst/>
            <a:rect l="l" t="t" r="r" b="b"/>
            <a:pathLst>
              <a:path w="5061728" h="6356958">
                <a:moveTo>
                  <a:pt x="0" y="0"/>
                </a:moveTo>
                <a:lnTo>
                  <a:pt x="5061728" y="0"/>
                </a:lnTo>
                <a:lnTo>
                  <a:pt x="506172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082981" y="6908305"/>
            <a:ext cx="6286692" cy="2208201"/>
          </a:xfrm>
          <a:custGeom>
            <a:avLst/>
            <a:gdLst/>
            <a:ahLst/>
            <a:cxnLst/>
            <a:rect l="l" t="t" r="r" b="b"/>
            <a:pathLst>
              <a:path w="6286692" h="2208201">
                <a:moveTo>
                  <a:pt x="0" y="0"/>
                </a:moveTo>
                <a:lnTo>
                  <a:pt x="6286692" y="0"/>
                </a:lnTo>
                <a:lnTo>
                  <a:pt x="6286692" y="2208201"/>
                </a:lnTo>
                <a:lnTo>
                  <a:pt x="0" y="2208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38497" y="923925"/>
            <a:ext cx="8689802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- 타워 공격 시스템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8497" y="2460343"/>
            <a:ext cx="13775660" cy="458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골드 → 경험치 구매 시스템</a:t>
            </a:r>
          </a:p>
          <a:p>
            <a:pPr algn="l">
              <a:lnSpc>
                <a:spcPts val="4709"/>
              </a:lnSpc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레벨업 시 3개의 랜덤 강화 중 선택</a:t>
            </a:r>
          </a:p>
          <a:p>
            <a:pPr algn="l">
              <a:lnSpc>
                <a:spcPts val="4709"/>
              </a:lnSpc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상점 기능</a:t>
            </a:r>
          </a:p>
          <a:p>
            <a:pPr marL="604395" lvl="1" indent="-302197" algn="l">
              <a:lnSpc>
                <a:spcPts val="4395"/>
              </a:lnSpc>
              <a:buFont typeface="Arial"/>
              <a:buChar char="•"/>
            </a:pPr>
            <a:r>
              <a:rPr lang="en-US" sz="2799" spc="-14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공격력 일시 증가</a:t>
            </a:r>
          </a:p>
          <a:p>
            <a:pPr marL="604395" lvl="1" indent="-302197" algn="l">
              <a:lnSpc>
                <a:spcPts val="4395"/>
              </a:lnSpc>
              <a:buFont typeface="Arial"/>
              <a:buChar char="•"/>
            </a:pPr>
            <a:r>
              <a:rPr lang="en-US" sz="2799" spc="-14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광역 폭발</a:t>
            </a:r>
          </a:p>
          <a:p>
            <a:pPr marL="604395" lvl="1" indent="-302197" algn="l">
              <a:lnSpc>
                <a:spcPts val="4395"/>
              </a:lnSpc>
              <a:buFont typeface="Arial"/>
              <a:buChar char="•"/>
            </a:pPr>
            <a:r>
              <a:rPr lang="en-US" sz="2799" spc="-14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바리케이드 설치 (몬스터 일시 차단)</a:t>
            </a:r>
          </a:p>
          <a:p>
            <a:pPr algn="l">
              <a:lnSpc>
                <a:spcPts val="4709"/>
              </a:lnSpc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금광 건설 → 지속적 골드 생산</a:t>
            </a:r>
          </a:p>
          <a:p>
            <a:pPr algn="l">
              <a:lnSpc>
                <a:spcPts val="4709"/>
              </a:lnSpc>
            </a:pPr>
            <a:endParaRPr lang="en-US" sz="2999" spc="-15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4649087" y="7748650"/>
            <a:ext cx="11963551" cy="1151492"/>
          </a:xfrm>
          <a:custGeom>
            <a:avLst/>
            <a:gdLst/>
            <a:ahLst/>
            <a:cxnLst/>
            <a:rect l="l" t="t" r="r" b="b"/>
            <a:pathLst>
              <a:path w="11963551" h="1151492">
                <a:moveTo>
                  <a:pt x="0" y="0"/>
                </a:moveTo>
                <a:lnTo>
                  <a:pt x="11963551" y="0"/>
                </a:lnTo>
                <a:lnTo>
                  <a:pt x="11963551" y="1151492"/>
                </a:lnTo>
                <a:lnTo>
                  <a:pt x="0" y="1151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410923" y="3417504"/>
            <a:ext cx="8201715" cy="3547242"/>
          </a:xfrm>
          <a:custGeom>
            <a:avLst/>
            <a:gdLst/>
            <a:ahLst/>
            <a:cxnLst/>
            <a:rect l="l" t="t" r="r" b="b"/>
            <a:pathLst>
              <a:path w="8201715" h="3547242">
                <a:moveTo>
                  <a:pt x="0" y="0"/>
                </a:moveTo>
                <a:lnTo>
                  <a:pt x="8201715" y="0"/>
                </a:lnTo>
                <a:lnTo>
                  <a:pt x="8201715" y="3547242"/>
                </a:lnTo>
                <a:lnTo>
                  <a:pt x="0" y="3547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38497" y="923925"/>
            <a:ext cx="8689802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- 성장 &amp; 강화 시스템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739135" y="6218597"/>
            <a:ext cx="4187132" cy="2938030"/>
          </a:xfrm>
          <a:custGeom>
            <a:avLst/>
            <a:gdLst/>
            <a:ahLst/>
            <a:cxnLst/>
            <a:rect l="l" t="t" r="r" b="b"/>
            <a:pathLst>
              <a:path w="4187132" h="2938030">
                <a:moveTo>
                  <a:pt x="0" y="0"/>
                </a:moveTo>
                <a:lnTo>
                  <a:pt x="4187132" y="0"/>
                </a:lnTo>
                <a:lnTo>
                  <a:pt x="4187132" y="2938030"/>
                </a:lnTo>
                <a:lnTo>
                  <a:pt x="0" y="2938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38497" y="6669428"/>
            <a:ext cx="1882716" cy="2487199"/>
          </a:xfrm>
          <a:custGeom>
            <a:avLst/>
            <a:gdLst/>
            <a:ahLst/>
            <a:cxnLst/>
            <a:rect l="l" t="t" r="r" b="b"/>
            <a:pathLst>
              <a:path w="1882716" h="2487199">
                <a:moveTo>
                  <a:pt x="0" y="0"/>
                </a:moveTo>
                <a:lnTo>
                  <a:pt x="1882716" y="0"/>
                </a:lnTo>
                <a:lnTo>
                  <a:pt x="1882716" y="2487199"/>
                </a:lnTo>
                <a:lnTo>
                  <a:pt x="0" y="2487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03" t="-863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38497" y="2460343"/>
            <a:ext cx="13775660" cy="3516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배속 기능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BGM 삽입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사운드 크기 조절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타워 설치 UI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게임 오버 / 엔딩 UI</a:t>
            </a:r>
          </a:p>
          <a:p>
            <a:pPr algn="l">
              <a:lnSpc>
                <a:spcPts val="4709"/>
              </a:lnSpc>
            </a:pPr>
            <a:endParaRPr lang="en-US" sz="2999" spc="-152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4155577" y="7070272"/>
            <a:ext cx="8141500" cy="2188028"/>
          </a:xfrm>
          <a:custGeom>
            <a:avLst/>
            <a:gdLst/>
            <a:ahLst/>
            <a:cxnLst/>
            <a:rect l="l" t="t" r="r" b="b"/>
            <a:pathLst>
              <a:path w="8141500" h="2188028">
                <a:moveTo>
                  <a:pt x="0" y="0"/>
                </a:moveTo>
                <a:lnTo>
                  <a:pt x="8141500" y="0"/>
                </a:lnTo>
                <a:lnTo>
                  <a:pt x="8141500" y="2188028"/>
                </a:lnTo>
                <a:lnTo>
                  <a:pt x="0" y="2188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38497" y="923925"/>
            <a:ext cx="9212517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5544" spc="-282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- UI/UX 및 편의 기능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8497" y="923925"/>
            <a:ext cx="8773436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ko-KR" altLang="en-US" sz="5544" spc="-282" dirty="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비슷한 어플과의 </a:t>
            </a:r>
            <a:r>
              <a:rPr lang="ko-KR" altLang="en-US" sz="5544" spc="-282" dirty="0" err="1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차별점</a:t>
            </a:r>
            <a:endParaRPr lang="en-US" sz="5544" spc="-282" dirty="0">
              <a:solidFill>
                <a:srgbClr val="FFFFFF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191222" y="5946072"/>
            <a:ext cx="8991600" cy="3565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가 저장한 내용을 사용자가 직접 감수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사용자의 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단순한 사실 나열이 아닌 사용자의 감성 자극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직접적으로 느낀 감정을 기록할 수 있는 기능 제공 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과거 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Microsoft Recall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의 실패 사례를 교훈 삼아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기록 시간 수동설정 가능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2628900"/>
            <a:ext cx="6616302" cy="3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Vs </a:t>
            </a:r>
            <a:r>
              <a:rPr lang="en-US" sz="3600" b="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Ms</a:t>
            </a:r>
            <a:r>
              <a:rPr lang="en-US" sz="36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Recall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5A42C5AA-ED9F-7284-A92D-349CD6758CCC}"/>
              </a:ext>
            </a:extLst>
          </p:cNvPr>
          <p:cNvSpPr txBox="1"/>
          <p:nvPr/>
        </p:nvSpPr>
        <p:spPr>
          <a:xfrm>
            <a:off x="8191222" y="2499348"/>
            <a:ext cx="2387249" cy="412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공통점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94134B-1C20-642C-D5F6-4B69E7D056F5}"/>
              </a:ext>
            </a:extLst>
          </p:cNvPr>
          <p:cNvSpPr txBox="1"/>
          <p:nvPr/>
        </p:nvSpPr>
        <p:spPr>
          <a:xfrm>
            <a:off x="8191222" y="5467562"/>
            <a:ext cx="2590801" cy="3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차이점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D7BC599A-643D-8A84-3751-26867318D70C}"/>
              </a:ext>
            </a:extLst>
          </p:cNvPr>
          <p:cNvSpPr txBox="1"/>
          <p:nvPr/>
        </p:nvSpPr>
        <p:spPr>
          <a:xfrm>
            <a:off x="8221702" y="2966887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기억 시스템의 한계를 보완하기 위한 활동 기록 수집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아카이브 기록을 통해 과거의 활동 </a:t>
            </a:r>
            <a:r>
              <a:rPr lang="ko-KR" altLang="en-US" sz="2999" spc="-152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다시보기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가능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22" name="그림 21" descr="MS 리콜, 개인정보 논란 재점화">
            <a:extLst>
              <a:ext uri="{FF2B5EF4-FFF2-40B4-BE49-F238E27FC236}">
                <a16:creationId xmlns:a16="http://schemas.microsoft.com/office/drawing/2014/main" id="{AFF84F90-57DC-B859-A0F4-3B605CE5A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42" y="3660356"/>
            <a:ext cx="6675800" cy="37134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6829-734E-8BD0-2938-E64B3266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3FCE35-1FC5-CF03-804F-A205A071014D}"/>
              </a:ext>
            </a:extLst>
          </p:cNvPr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1C84D8E-9270-8D4E-4883-F8106510936F}"/>
                </a:ext>
              </a:extLst>
            </p:cNvPr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D9B9D9DE-5130-C770-5ACB-4BF2442D8F69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28E55A75-6CDF-1871-A90F-619398288E9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049E99-17A8-9211-20D5-D89311CF8D78}"/>
                </a:ext>
              </a:extLst>
            </p:cNvPr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CA4E168E-58FB-6B43-D6A3-D46BAB29E939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272E179F-CF78-E1C3-43EB-335A99CC2D8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014E849-58B2-F968-04DA-2121C8C3938C}"/>
              </a:ext>
            </a:extLst>
          </p:cNvPr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B80BD38-7E98-36FA-CF2F-DDDAF4DC2363}"/>
                </a:ext>
              </a:extLst>
            </p:cNvPr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4F2EA6B-C994-7465-2E00-5D077DB52A64}"/>
                </a:ext>
              </a:extLst>
            </p:cNvPr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5F477572-97F6-328D-2BB0-97C7A669426E}"/>
              </a:ext>
            </a:extLst>
          </p:cNvPr>
          <p:cNvSpPr txBox="1"/>
          <p:nvPr/>
        </p:nvSpPr>
        <p:spPr>
          <a:xfrm>
            <a:off x="1338497" y="923925"/>
            <a:ext cx="8773436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ko-KR" altLang="en-US" sz="5544" spc="-282" dirty="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비슷한 어플과의 </a:t>
            </a:r>
            <a:r>
              <a:rPr lang="ko-KR" altLang="en-US" sz="5544" spc="-282" dirty="0" err="1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차별점</a:t>
            </a:r>
            <a:endParaRPr lang="en-US" sz="5544" spc="-282" dirty="0">
              <a:solidFill>
                <a:srgbClr val="FFFFFF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46F94A1-CB9E-42C8-9E18-D8D5727EA0AB}"/>
              </a:ext>
            </a:extLst>
          </p:cNvPr>
          <p:cNvSpPr txBox="1"/>
          <p:nvPr/>
        </p:nvSpPr>
        <p:spPr>
          <a:xfrm>
            <a:off x="8213681" y="4711168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시간 사용 분석과 생산성 관찰에 중점을 두어 세션별 해석과 일기 생성이 핵심이 아니다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F632755-03C0-D80E-5FEF-A70423582727}"/>
              </a:ext>
            </a:extLst>
          </p:cNvPr>
          <p:cNvSpPr txBox="1"/>
          <p:nvPr/>
        </p:nvSpPr>
        <p:spPr>
          <a:xfrm>
            <a:off x="762000" y="2628900"/>
            <a:ext cx="6616302" cy="3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Vs Activity Watch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E5EE855E-E776-9218-79D9-3DBAD941031E}"/>
              </a:ext>
            </a:extLst>
          </p:cNvPr>
          <p:cNvSpPr txBox="1"/>
          <p:nvPr/>
        </p:nvSpPr>
        <p:spPr>
          <a:xfrm>
            <a:off x="8191222" y="2499348"/>
            <a:ext cx="2387249" cy="412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공통점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7F2BD7-2C66-FD60-1FDA-C420740CA410}"/>
              </a:ext>
            </a:extLst>
          </p:cNvPr>
          <p:cNvSpPr txBox="1"/>
          <p:nvPr/>
        </p:nvSpPr>
        <p:spPr>
          <a:xfrm>
            <a:off x="8199243" y="4301048"/>
            <a:ext cx="2590801" cy="3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차이점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45872CB7-1F7E-2280-51F4-8259A03DA16C}"/>
              </a:ext>
            </a:extLst>
          </p:cNvPr>
          <p:cNvSpPr txBox="1"/>
          <p:nvPr/>
        </p:nvSpPr>
        <p:spPr>
          <a:xfrm>
            <a:off x="8221702" y="2966887"/>
            <a:ext cx="8991600" cy="551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활동의 실시간 추적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대시보드에서 가시화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81283-4CA0-794C-CF9E-7ACB7C9997B0}"/>
              </a:ext>
            </a:extLst>
          </p:cNvPr>
          <p:cNvSpPr txBox="1"/>
          <p:nvPr/>
        </p:nvSpPr>
        <p:spPr>
          <a:xfrm>
            <a:off x="8686800" y="6379059"/>
            <a:ext cx="2590801" cy="3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3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활용가능성</a:t>
            </a:r>
            <a:endParaRPr lang="en-US" sz="3600" b="1" dirty="0">
              <a:solidFill>
                <a:schemeClr val="accent3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C05E90E3-EADE-6DF8-796D-44CE27235642}"/>
              </a:ext>
            </a:extLst>
          </p:cNvPr>
          <p:cNvSpPr txBox="1"/>
          <p:nvPr/>
        </p:nvSpPr>
        <p:spPr>
          <a:xfrm>
            <a:off x="8221702" y="7058178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화면과 해석된 내용을 분리해 보여주는 대시보드 설계와 로컬 우선 아키텍처를 참고할 수 있다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19" name="그림 18" descr="GitHub - ActivityWatch/activitywatch: The best free and open-source  automated time tracker. Cross-platform, extensible, privacy-focused. ·  GitHub">
            <a:extLst>
              <a:ext uri="{FF2B5EF4-FFF2-40B4-BE49-F238E27FC236}">
                <a16:creationId xmlns:a16="http://schemas.microsoft.com/office/drawing/2014/main" id="{FF92E4F4-BEF3-B07B-B318-545E8BD9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24" y="3841302"/>
            <a:ext cx="6688594" cy="293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60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35FD-19A7-18A4-4286-E56B6280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86EB9E-D7DF-265C-0177-69397596D56E}"/>
              </a:ext>
            </a:extLst>
          </p:cNvPr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DEACC7A-5B7D-1AA6-DA40-4C54DBCCD356}"/>
                </a:ext>
              </a:extLst>
            </p:cNvPr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90A6B1C-A531-FC6E-7C34-7C5683E5187F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EA996D0A-37DE-EE80-DE58-F6BFB912681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3BAAADC-298C-A583-6654-C773A173CD3C}"/>
                </a:ext>
              </a:extLst>
            </p:cNvPr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7C216F8-CD21-CCD9-87B4-C78B562AFCBE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A13881B8-C4CB-3BF2-0B01-A292319E5BF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1676832-94A9-15AE-5B36-6284C6C8480E}"/>
              </a:ext>
            </a:extLst>
          </p:cNvPr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BD68F9C-1C90-E429-87C9-365FAEDC4374}"/>
                </a:ext>
              </a:extLst>
            </p:cNvPr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0218A6E-8696-3A4A-D5A5-2E1D35D20F9F}"/>
                </a:ext>
              </a:extLst>
            </p:cNvPr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C80D1AF0-A4F0-6AC6-0F72-9766CE28DEC9}"/>
              </a:ext>
            </a:extLst>
          </p:cNvPr>
          <p:cNvSpPr txBox="1"/>
          <p:nvPr/>
        </p:nvSpPr>
        <p:spPr>
          <a:xfrm>
            <a:off x="1338497" y="923925"/>
            <a:ext cx="8773436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ko-KR" altLang="en-US" sz="5544" spc="-282" dirty="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비슷한 어플과의 </a:t>
            </a:r>
            <a:r>
              <a:rPr lang="ko-KR" altLang="en-US" sz="5544" spc="-282" dirty="0" err="1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차별점</a:t>
            </a:r>
            <a:endParaRPr lang="en-US" sz="5544" spc="-282" dirty="0">
              <a:solidFill>
                <a:srgbClr val="FFFFFF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172B23F-D02A-BDB1-B727-41DF019CFD99}"/>
              </a:ext>
            </a:extLst>
          </p:cNvPr>
          <p:cNvSpPr txBox="1"/>
          <p:nvPr/>
        </p:nvSpPr>
        <p:spPr>
          <a:xfrm>
            <a:off x="8213681" y="4711168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히스토리 검색과 회상 중심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하루 단위 일기 생성이나 세션별 회고는 핵심 가치가 아님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CA87B75-13CD-8588-0BE0-C154AF8B3776}"/>
              </a:ext>
            </a:extLst>
          </p:cNvPr>
          <p:cNvSpPr txBox="1"/>
          <p:nvPr/>
        </p:nvSpPr>
        <p:spPr>
          <a:xfrm>
            <a:off x="762000" y="2475782"/>
            <a:ext cx="6858000" cy="372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Vs </a:t>
            </a:r>
            <a:r>
              <a:rPr lang="en-US" altLang="ko-KR" sz="2800" b="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Promnesia</a:t>
            </a:r>
            <a:r>
              <a:rPr lang="en-US" altLang="ko-KR" sz="28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/</a:t>
            </a:r>
            <a:r>
              <a:rPr lang="en-US" altLang="ko-KR" sz="2800" b="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BrowserParrot</a:t>
            </a:r>
            <a:r>
              <a:rPr lang="en-US" altLang="ko-KR" sz="28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/ </a:t>
            </a:r>
            <a:r>
              <a:rPr lang="en-US" altLang="ko-KR" sz="2800" b="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Pinbot</a:t>
            </a:r>
            <a:r>
              <a:rPr lang="en-US" altLang="ko-KR" sz="28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endParaRPr lang="en-US" sz="2800" b="1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BAC62D81-6C2B-2936-479C-1700AAC1D577}"/>
              </a:ext>
            </a:extLst>
          </p:cNvPr>
          <p:cNvSpPr txBox="1"/>
          <p:nvPr/>
        </p:nvSpPr>
        <p:spPr>
          <a:xfrm>
            <a:off x="8191222" y="2499348"/>
            <a:ext cx="2387249" cy="412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공통점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0126E4-9CE6-0C24-2349-1D1AD7A42954}"/>
              </a:ext>
            </a:extLst>
          </p:cNvPr>
          <p:cNvSpPr txBox="1"/>
          <p:nvPr/>
        </p:nvSpPr>
        <p:spPr>
          <a:xfrm>
            <a:off x="8199243" y="4301048"/>
            <a:ext cx="2590801" cy="3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차이점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29115B51-B832-5933-04A1-452897B9C3EE}"/>
              </a:ext>
            </a:extLst>
          </p:cNvPr>
          <p:cNvSpPr txBox="1"/>
          <p:nvPr/>
        </p:nvSpPr>
        <p:spPr>
          <a:xfrm>
            <a:off x="8221702" y="2966887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브라우저 기록과 개인 기록을 검색가능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이를 재활용 가능한 자산으로 인식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F0DDAA-0CE4-7F37-2FA5-684DC27CA609}"/>
              </a:ext>
            </a:extLst>
          </p:cNvPr>
          <p:cNvSpPr txBox="1"/>
          <p:nvPr/>
        </p:nvSpPr>
        <p:spPr>
          <a:xfrm>
            <a:off x="8686800" y="6379059"/>
            <a:ext cx="2590801" cy="3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3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활용가능성</a:t>
            </a:r>
            <a:endParaRPr lang="en-US" sz="3600" b="1" dirty="0">
              <a:solidFill>
                <a:schemeClr val="accent3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BD5BC163-4428-047A-DED0-E10F2B734F82}"/>
              </a:ext>
            </a:extLst>
          </p:cNvPr>
          <p:cNvSpPr txBox="1"/>
          <p:nvPr/>
        </p:nvSpPr>
        <p:spPr>
          <a:xfrm>
            <a:off x="8221702" y="7058178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브라우저 활동을 나중에 다시 찾고 연결할 수 있는 구조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원문 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URL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과 메타데이터의 보존 방식을 참고 가능하다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19" name="그림 18" descr="Promnesia - Chrome Web Store">
            <a:extLst>
              <a:ext uri="{FF2B5EF4-FFF2-40B4-BE49-F238E27FC236}">
                <a16:creationId xmlns:a16="http://schemas.microsoft.com/office/drawing/2014/main" id="{7E579263-E099-1279-265B-A3D54BEBC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957" y="3221380"/>
            <a:ext cx="4512800" cy="2820500"/>
          </a:xfrm>
          <a:prstGeom prst="rect">
            <a:avLst/>
          </a:prstGeom>
        </p:spPr>
      </p:pic>
      <p:pic>
        <p:nvPicPr>
          <p:cNvPr id="21" name="그림 20" descr="Pinbot - Chrome Web Store">
            <a:extLst>
              <a:ext uri="{FF2B5EF4-FFF2-40B4-BE49-F238E27FC236}">
                <a16:creationId xmlns:a16="http://schemas.microsoft.com/office/drawing/2014/main" id="{33EFD5A3-A302-5AEA-B564-0B1E2DB4B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384" y="6372335"/>
            <a:ext cx="4119946" cy="308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46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F092-C3B1-96B4-A760-60156700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19E4B2-A4CC-7476-4894-AAAA420BDC65}"/>
              </a:ext>
            </a:extLst>
          </p:cNvPr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9B5D0DA1-FDF0-AE3F-FA33-0F3E75FC4D37}"/>
                </a:ext>
              </a:extLst>
            </p:cNvPr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451AC24-92B5-BE52-686E-CC276CEDBE6A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2757EEFA-ABE0-BDAD-7A41-001EEF70217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9963129-4829-B44D-7C2E-6DC2232B1DA4}"/>
                </a:ext>
              </a:extLst>
            </p:cNvPr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D203F688-C599-1FA9-EFD9-D94A74E03F1C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6ABAE6A4-35C0-207E-250A-7E55B782270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41122CB-25F6-0DD7-97B2-5980BBDD9FCC}"/>
              </a:ext>
            </a:extLst>
          </p:cNvPr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BF46494-E604-4F0A-B653-02B9BB0CD1DF}"/>
                </a:ext>
              </a:extLst>
            </p:cNvPr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D544016-B5F9-B070-1773-9F00BE9D6D0E}"/>
                </a:ext>
              </a:extLst>
            </p:cNvPr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56D53225-D2AE-E8DE-0C48-0342ED6453D7}"/>
              </a:ext>
            </a:extLst>
          </p:cNvPr>
          <p:cNvSpPr txBox="1"/>
          <p:nvPr/>
        </p:nvSpPr>
        <p:spPr>
          <a:xfrm>
            <a:off x="1338497" y="923925"/>
            <a:ext cx="8773436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ko-KR" altLang="en-US" sz="5544" spc="-282" dirty="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비슷한 어플과의 </a:t>
            </a:r>
            <a:r>
              <a:rPr lang="ko-KR" altLang="en-US" sz="5544" spc="-282" dirty="0" err="1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차별점</a:t>
            </a:r>
            <a:endParaRPr lang="en-US" sz="5544" spc="-282" dirty="0">
              <a:solidFill>
                <a:srgbClr val="FFFFFF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C9D5E31-6729-C5E4-663A-0B5EFB381909}"/>
              </a:ext>
            </a:extLst>
          </p:cNvPr>
          <p:cNvSpPr txBox="1"/>
          <p:nvPr/>
        </p:nvSpPr>
        <p:spPr>
          <a:xfrm>
            <a:off x="8213681" y="4711168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사용자가 명시적으로 저장한 컨텐츠 구성이며 브라우저 행동 로그를 자동 세션화해 정리해 주지 않는다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8F8A4B1-D28B-1241-3DC4-6D607BE115D1}"/>
              </a:ext>
            </a:extLst>
          </p:cNvPr>
          <p:cNvSpPr txBox="1"/>
          <p:nvPr/>
        </p:nvSpPr>
        <p:spPr>
          <a:xfrm>
            <a:off x="762000" y="2628900"/>
            <a:ext cx="6616302" cy="3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Vs </a:t>
            </a:r>
            <a:r>
              <a:rPr lang="en-US" sz="3600" b="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Zenfetch</a:t>
            </a:r>
            <a:endParaRPr lang="en-US" sz="3600" b="1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62E5CDF4-69DB-7182-57B7-EC984AB8F908}"/>
              </a:ext>
            </a:extLst>
          </p:cNvPr>
          <p:cNvSpPr txBox="1"/>
          <p:nvPr/>
        </p:nvSpPr>
        <p:spPr>
          <a:xfrm>
            <a:off x="8191222" y="2499348"/>
            <a:ext cx="2387249" cy="412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공통점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F01C95-4CE2-1359-D4F5-F265B5808B58}"/>
              </a:ext>
            </a:extLst>
          </p:cNvPr>
          <p:cNvSpPr txBox="1"/>
          <p:nvPr/>
        </p:nvSpPr>
        <p:spPr>
          <a:xfrm>
            <a:off x="8199243" y="4301048"/>
            <a:ext cx="2590801" cy="3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차이점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CFC0A9E9-3B86-50AA-1B5F-0AA8B670F7B3}"/>
              </a:ext>
            </a:extLst>
          </p:cNvPr>
          <p:cNvSpPr txBox="1"/>
          <p:nvPr/>
        </p:nvSpPr>
        <p:spPr>
          <a:xfrm>
            <a:off x="8221702" y="2966887"/>
            <a:ext cx="8991600" cy="551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저장된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정보를 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가 정리한다는 점에서 방향성이 유사하다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15DE10-93BC-0262-2C65-BFD8370583FA}"/>
              </a:ext>
            </a:extLst>
          </p:cNvPr>
          <p:cNvSpPr txBox="1"/>
          <p:nvPr/>
        </p:nvSpPr>
        <p:spPr>
          <a:xfrm>
            <a:off x="8686800" y="6379059"/>
            <a:ext cx="2590801" cy="3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3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활용가능성</a:t>
            </a:r>
            <a:endParaRPr lang="en-US" sz="3600" b="1" dirty="0">
              <a:solidFill>
                <a:schemeClr val="accent3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090BAA6A-A458-E770-B548-A0B03BADBA4B}"/>
              </a:ext>
            </a:extLst>
          </p:cNvPr>
          <p:cNvSpPr txBox="1"/>
          <p:nvPr/>
        </p:nvSpPr>
        <p:spPr>
          <a:xfrm>
            <a:off x="8221702" y="7058178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단순 저장 대신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정리된 지식 자산으로 바꾸어 재활용 가능하게 만드는 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UX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를 참고할 가치가 있다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19" name="그림 18" descr="I tried using ``Zenfetch Personal AI'', which allows you to organize data  from multiple sites cross-sectionally by saving pages and having AI  memorize the content of articles.Review - GIGAZINE">
            <a:extLst>
              <a:ext uri="{FF2B5EF4-FFF2-40B4-BE49-F238E27FC236}">
                <a16:creationId xmlns:a16="http://schemas.microsoft.com/office/drawing/2014/main" id="{16FCCC01-826B-C56D-FEE9-EF6F364D1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8" y="3673188"/>
            <a:ext cx="7727588" cy="434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05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F7201-62CC-0AFB-118B-45728A9FB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0AD066-1232-6B9A-27F7-BD27AA8F2DC7}"/>
              </a:ext>
            </a:extLst>
          </p:cNvPr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15A7223-6E20-BC31-617B-31E24B25B8CC}"/>
                </a:ext>
              </a:extLst>
            </p:cNvPr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313B45BB-A354-B1F3-AF2E-D8F44F9AE51B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6CE13855-0F45-67D7-ED5D-D3FA7D9C821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5BF8CE4-1FF8-2B6D-6363-139ABEE590CE}"/>
                </a:ext>
              </a:extLst>
            </p:cNvPr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F4BEB69-3B30-0070-AEAE-0B7F6A771A96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1C838F6-A695-0D16-6FDB-203AB583371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0FF38EC-F84A-F730-8591-8DB2668471A8}"/>
              </a:ext>
            </a:extLst>
          </p:cNvPr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5D16249-6DB1-8606-7044-E4EEB84CFC43}"/>
                </a:ext>
              </a:extLst>
            </p:cNvPr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2C305B7-A4DE-D716-4EC8-A1720022D1DB}"/>
                </a:ext>
              </a:extLst>
            </p:cNvPr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BB42BC2B-D707-FBAC-A03F-615D33766570}"/>
              </a:ext>
            </a:extLst>
          </p:cNvPr>
          <p:cNvSpPr txBox="1"/>
          <p:nvPr/>
        </p:nvSpPr>
        <p:spPr>
          <a:xfrm>
            <a:off x="1338497" y="923925"/>
            <a:ext cx="8773436" cy="94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ko-KR" altLang="en-US" sz="5544" spc="-282" dirty="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비슷한 어플과의 </a:t>
            </a:r>
            <a:r>
              <a:rPr lang="ko-KR" altLang="en-US" sz="5544" spc="-282" dirty="0" err="1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차별점</a:t>
            </a:r>
            <a:endParaRPr lang="en-US" sz="5544" spc="-282" dirty="0">
              <a:solidFill>
                <a:srgbClr val="FFFFFF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AEACE60-7A3A-5FC0-01F7-2C1D4E4C6B1A}"/>
              </a:ext>
            </a:extLst>
          </p:cNvPr>
          <p:cNvSpPr txBox="1"/>
          <p:nvPr/>
        </p:nvSpPr>
        <p:spPr>
          <a:xfrm>
            <a:off x="8213681" y="4711168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사용자가 명시적으로 저장한 컨텐츠 구성이며 브라우저 행동 로그를 자동 세션화해 정리해 주지 않는다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1145C99-48BA-2FA3-397C-BEEDC9FC6099}"/>
              </a:ext>
            </a:extLst>
          </p:cNvPr>
          <p:cNvSpPr txBox="1"/>
          <p:nvPr/>
        </p:nvSpPr>
        <p:spPr>
          <a:xfrm>
            <a:off x="762000" y="2628900"/>
            <a:ext cx="6616302" cy="3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Vs </a:t>
            </a:r>
            <a:r>
              <a:rPr lang="en-US" sz="3600" b="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Zenfetch</a:t>
            </a:r>
            <a:endParaRPr lang="en-US" sz="3600" b="1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607565EB-97DF-748F-3157-E80DD4CCBB51}"/>
              </a:ext>
            </a:extLst>
          </p:cNvPr>
          <p:cNvSpPr txBox="1"/>
          <p:nvPr/>
        </p:nvSpPr>
        <p:spPr>
          <a:xfrm>
            <a:off x="8191222" y="2499348"/>
            <a:ext cx="2387249" cy="412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공통점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F42261-17C7-576F-0E85-A23DA03973B2}"/>
              </a:ext>
            </a:extLst>
          </p:cNvPr>
          <p:cNvSpPr txBox="1"/>
          <p:nvPr/>
        </p:nvSpPr>
        <p:spPr>
          <a:xfrm>
            <a:off x="8199243" y="4301048"/>
            <a:ext cx="2590801" cy="3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차이점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02E88850-DCDD-8CE6-70C9-1973B05BEF6E}"/>
              </a:ext>
            </a:extLst>
          </p:cNvPr>
          <p:cNvSpPr txBox="1"/>
          <p:nvPr/>
        </p:nvSpPr>
        <p:spPr>
          <a:xfrm>
            <a:off x="8221702" y="2966887"/>
            <a:ext cx="8991600" cy="551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저장된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정보를 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가 정리한다는 점에서 방향성이 유사하다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54375-5730-99B3-0D0A-D5823EE39FBC}"/>
              </a:ext>
            </a:extLst>
          </p:cNvPr>
          <p:cNvSpPr txBox="1"/>
          <p:nvPr/>
        </p:nvSpPr>
        <p:spPr>
          <a:xfrm>
            <a:off x="8686800" y="6379059"/>
            <a:ext cx="2590801" cy="3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ko-KR" altLang="en-US" sz="3600" b="1" dirty="0">
                <a:solidFill>
                  <a:schemeClr val="accent3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활용가능성</a:t>
            </a:r>
            <a:endParaRPr lang="en-US" sz="3600" b="1" dirty="0">
              <a:solidFill>
                <a:schemeClr val="accent3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57462FDC-5A0F-0176-EC32-1A516559CF4A}"/>
              </a:ext>
            </a:extLst>
          </p:cNvPr>
          <p:cNvSpPr txBox="1"/>
          <p:nvPr/>
        </p:nvSpPr>
        <p:spPr>
          <a:xfrm>
            <a:off x="8221702" y="7058178"/>
            <a:ext cx="8991600" cy="1154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단순 저장 대신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정리된 지식 자산으로 바꾸어 재활용 가능하게 만드는 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UX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를 참고할 가치가 있다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19" name="그림 18" descr="I tried using ``Zenfetch Personal AI'', which allows you to organize data  from multiple sites cross-sectionally by saving pages and having AI  memorize the content of articles.Review - GIGAZINE">
            <a:extLst>
              <a:ext uri="{FF2B5EF4-FFF2-40B4-BE49-F238E27FC236}">
                <a16:creationId xmlns:a16="http://schemas.microsoft.com/office/drawing/2014/main" id="{0F4118A9-F62A-3932-25A3-0DE4CB76D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8" y="3673188"/>
            <a:ext cx="7727588" cy="434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9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3AE47-A8E3-408A-32AD-5CAFFDBF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02EBD2-37FF-09DC-FFFA-44AA299C2691}"/>
              </a:ext>
            </a:extLst>
          </p:cNvPr>
          <p:cNvGrpSpPr/>
          <p:nvPr/>
        </p:nvGrpSpPr>
        <p:grpSpPr>
          <a:xfrm>
            <a:off x="629838" y="648888"/>
            <a:ext cx="16990224" cy="9084474"/>
            <a:chOff x="0" y="0"/>
            <a:chExt cx="22653632" cy="12112632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5E528CF-9D5F-4E15-04D4-F65D195D530E}"/>
                </a:ext>
              </a:extLst>
            </p:cNvPr>
            <p:cNvGrpSpPr/>
            <p:nvPr/>
          </p:nvGrpSpPr>
          <p:grpSpPr>
            <a:xfrm>
              <a:off x="0" y="127000"/>
              <a:ext cx="22653632" cy="11985632"/>
              <a:chOff x="0" y="0"/>
              <a:chExt cx="4474792" cy="2367532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3A9252CF-9949-47C5-C4F0-5F5B539DD462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C5C5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D408F156-8E16-9747-2038-8C926A31355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A1CFBDE6-90F2-F3C6-1DC0-D6AD0388DF5B}"/>
                </a:ext>
              </a:extLst>
            </p:cNvPr>
            <p:cNvGrpSpPr/>
            <p:nvPr/>
          </p:nvGrpSpPr>
          <p:grpSpPr>
            <a:xfrm>
              <a:off x="0" y="0"/>
              <a:ext cx="22653632" cy="11985632"/>
              <a:chOff x="0" y="0"/>
              <a:chExt cx="4474792" cy="2367532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9B6BEC27-6060-BD7C-2E97-B046107B588A}"/>
                  </a:ext>
                </a:extLst>
              </p:cNvPr>
              <p:cNvSpPr/>
              <p:nvPr/>
            </p:nvSpPr>
            <p:spPr>
              <a:xfrm>
                <a:off x="0" y="0"/>
                <a:ext cx="4474792" cy="2367532"/>
              </a:xfrm>
              <a:custGeom>
                <a:avLst/>
                <a:gdLst/>
                <a:ahLst/>
                <a:cxnLst/>
                <a:rect l="l" t="t" r="r" b="b"/>
                <a:pathLst>
                  <a:path w="4474792" h="2367532">
                    <a:moveTo>
                      <a:pt x="0" y="0"/>
                    </a:moveTo>
                    <a:lnTo>
                      <a:pt x="4474792" y="0"/>
                    </a:lnTo>
                    <a:lnTo>
                      <a:pt x="4474792" y="2367532"/>
                    </a:lnTo>
                    <a:lnTo>
                      <a:pt x="0" y="2367532"/>
                    </a:lnTo>
                    <a:close/>
                  </a:path>
                </a:pathLst>
              </a:custGeom>
              <a:solidFill>
                <a:srgbClr val="FAFA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BA0EDB9A-8736-0165-DD40-2F94F62DF7E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74792" cy="2415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2EC2EB1-22F1-3D57-81DE-85842C3C4634}"/>
              </a:ext>
            </a:extLst>
          </p:cNvPr>
          <p:cNvGrpSpPr/>
          <p:nvPr/>
        </p:nvGrpSpPr>
        <p:grpSpPr>
          <a:xfrm>
            <a:off x="648888" y="648888"/>
            <a:ext cx="16990224" cy="1556195"/>
            <a:chOff x="0" y="0"/>
            <a:chExt cx="4474792" cy="40986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D529839-3FFB-8622-BCCB-88941E89626C}"/>
                </a:ext>
              </a:extLst>
            </p:cNvPr>
            <p:cNvSpPr/>
            <p:nvPr/>
          </p:nvSpPr>
          <p:spPr>
            <a:xfrm>
              <a:off x="0" y="0"/>
              <a:ext cx="4474792" cy="409862"/>
            </a:xfrm>
            <a:custGeom>
              <a:avLst/>
              <a:gdLst/>
              <a:ahLst/>
              <a:cxnLst/>
              <a:rect l="l" t="t" r="r" b="b"/>
              <a:pathLst>
                <a:path w="4474792" h="409862">
                  <a:moveTo>
                    <a:pt x="0" y="0"/>
                  </a:moveTo>
                  <a:lnTo>
                    <a:pt x="4474792" y="0"/>
                  </a:lnTo>
                  <a:lnTo>
                    <a:pt x="4474792" y="409862"/>
                  </a:lnTo>
                  <a:lnTo>
                    <a:pt x="0" y="409862"/>
                  </a:lnTo>
                  <a:close/>
                </a:path>
              </a:pathLst>
            </a:custGeom>
            <a:solidFill>
              <a:srgbClr val="8D9C9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387E894-A6E4-727F-F2B6-A69E99ABC994}"/>
                </a:ext>
              </a:extLst>
            </p:cNvPr>
            <p:cNvSpPr txBox="1"/>
            <p:nvPr/>
          </p:nvSpPr>
          <p:spPr>
            <a:xfrm>
              <a:off x="0" y="-47625"/>
              <a:ext cx="4474792" cy="4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9E0B785-FC51-5862-EF3F-0555F3677B53}"/>
              </a:ext>
            </a:extLst>
          </p:cNvPr>
          <p:cNvSpPr txBox="1"/>
          <p:nvPr/>
        </p:nvSpPr>
        <p:spPr>
          <a:xfrm>
            <a:off x="1338496" y="923925"/>
            <a:ext cx="10320104" cy="920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62"/>
              </a:lnSpc>
            </a:pPr>
            <a:r>
              <a:rPr lang="ko-KR" altLang="en-US" sz="5544" spc="-282" dirty="0">
                <a:solidFill>
                  <a:srgbClr val="FFFFFF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어플리케이션 활용 예상</a:t>
            </a:r>
            <a:endParaRPr lang="en-US" sz="5544" spc="-282" dirty="0">
              <a:solidFill>
                <a:srgbClr val="FFFFFF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148629B-AA36-8C28-5AD5-5ABB773061C5}"/>
              </a:ext>
            </a:extLst>
          </p:cNvPr>
          <p:cNvSpPr txBox="1"/>
          <p:nvPr/>
        </p:nvSpPr>
        <p:spPr>
          <a:xfrm>
            <a:off x="1028700" y="2606703"/>
            <a:ext cx="13775660" cy="597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사용자의 분석이 아닌 기록에 중점을 둔 어플리케이션</a:t>
            </a: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Ai</a:t>
            </a: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는 기록의 수집과 요약을 담당하며 이를 편집하는 것은 사용자의 역할이다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사용자가 틀린 내용을 정정하거나 필요 없다고 생각되는 내용을 직접 편집할 수 있어 자율성이 보장된다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시크릿 탭 등의 정보는 수집하지 않으며 브라우저에 한정되어 있어 프라이버시가 보장된다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endParaRPr lang="en-US" altLang="ko-KR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647574" lvl="1" indent="-323787" algn="l">
              <a:lnSpc>
                <a:spcPts val="4709"/>
              </a:lnSpc>
              <a:buFont typeface="Arial"/>
              <a:buChar char="•"/>
            </a:pPr>
            <a:r>
              <a:rPr lang="ko-KR" altLang="en-US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수집한 정보의 보안을 유지하기 위한 알고리즘을 마련하였다</a:t>
            </a:r>
            <a:r>
              <a:rPr lang="en-US" altLang="ko-KR" sz="2999" spc="-152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  <a:endParaRPr lang="en-US" sz="2999" spc="-152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93496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912</Words>
  <Application>Microsoft Office PowerPoint</Application>
  <PresentationFormat>사용자 지정</PresentationFormat>
  <Paragraphs>145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Source Han Sans KR</vt:lpstr>
      <vt:lpstr>Calibri</vt:lpstr>
      <vt:lpstr>Source Han Sans KR Bold</vt:lpstr>
      <vt:lpstr>Arial</vt:lpstr>
      <vt:lpstr>210 국민체조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녹색과 아이보리 깔끔한 팀 비즈니스 마케팅 프로젝트 발표 보고서 제안서 프레젠테이션</dc:title>
  <dc:creator>serendipity</dc:creator>
  <cp:lastModifiedBy>serendipity</cp:lastModifiedBy>
  <cp:revision>9</cp:revision>
  <dcterms:created xsi:type="dcterms:W3CDTF">2006-08-16T00:00:00Z</dcterms:created>
  <dcterms:modified xsi:type="dcterms:W3CDTF">2026-03-26T15:57:53Z</dcterms:modified>
  <dc:identifier>DAG6txE_juM</dc:identifier>
</cp:coreProperties>
</file>